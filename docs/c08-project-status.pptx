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DFA8BBA-B4E6-42E1-861B-7DA23EDCC1C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9CC205-B12D-4CD9-9098-06C00B19A27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3565A5-FBAB-4F96-B23C-F24BE3F92A1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C240A1-A6C1-44B6-8AFE-5025EE1271E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6D7C1B-FC59-4E90-9458-4AEA13A535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E6B2EC-FA4D-424F-9591-78825537CFA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4C57C5-20E9-4C69-8695-A78B9A93423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WI_BLANK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54a5"/>
          </a:solidFill>
          <a:ln w="12700">
            <a:solidFill>
              <a:srgbClr val="2454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48200" y="191880"/>
            <a:ext cx="83206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SWI  /  C08 PROJECT STATUS  /  HOSPODA DEVS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1201400" y="191880"/>
            <a:ext cx="511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01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48200" y="511920"/>
            <a:ext cx="11018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EXECUTIVE PROJECT STATUS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48200" y="987480"/>
            <a:ext cx="1122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trike="noStrike" u="none">
                <a:solidFill>
                  <a:srgbClr val="52657d"/>
                </a:solidFill>
                <a:effectLst/>
                <a:uFillTx/>
                <a:latin typeface="Arial"/>
                <a:ea typeface="Arial"/>
              </a:rPr>
              <a:t>What is the current delivery position, what threatens it, and what decision is needed?</a:t>
            </a:r>
            <a:endParaRPr b="0" lang="en-US" sz="1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48200" y="1389960"/>
            <a:ext cx="388584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PROJECT / TEAM:  Hospoda Devs (Petera, Kovařčík, Křižák)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334400" y="1389960"/>
            <a:ext cx="40413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REPORTING BASELINE:  c07-reporting-baseline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375760" y="1389960"/>
            <a:ext cx="33645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 DATE / OWNER:  29. 10. 2026 / Michal Křižák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47840" y="6496560"/>
            <a:ext cx="11292840" cy="360"/>
          </a:xfrm>
          <a:prstGeom prst="line">
            <a:avLst/>
          </a:prstGeom>
          <a:ln w="8890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48200" y="6510600"/>
            <a:ext cx="11063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637184"/>
                </a:solidFill>
                <a:effectLst/>
                <a:uFillTx/>
                <a:latin typeface="Arial"/>
                <a:ea typeface="Arial"/>
              </a:rPr>
              <a:t>SWI C08  |  Reporting baseline: c07-reporting-baseline  |  Project: Hospoda Devs  |  Report date: 29. 10. 2026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48200" y="198432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PROJECT / TEAM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48200" y="2277000"/>
            <a:ext cx="5545440" cy="71280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Rezervace stolů v hospodě / Hospoda Devs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195240" y="198432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OVERALL DELIVERY STATUS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195240" y="2277000"/>
            <a:ext cx="5545440" cy="71280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6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AMBER / AT RISK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6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Ověřeno 142/142; chybí review C07 a zástupnost (R-01).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48200" y="318204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MOST IMPORTANT DELIVERED EVIDENCE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448200" y="3474720"/>
            <a:ext cx="5545440" cy="7585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BR-02 drží při souběhu: lock-mechanism test + 10× zátěž, 0 porušení (c07-postgres-verification.json).</a:t>
            </a:r>
            <a:endParaRPr b="0" lang="en-US" sz="14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195240" y="318204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TOP DELIVERY CONSTRAINT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195240" y="3474720"/>
            <a:ext cx="5545440" cy="7585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Znalosti u 1 člena (28/46 commitů) → riziko slabé obhajoby CP1 (R-01 HIGH).</a:t>
            </a:r>
            <a:endParaRPr b="0" lang="en-US" sz="14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48200" y="4462200"/>
            <a:ext cx="1129248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EXECUTIVE ASSESSMENT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48200" y="4754880"/>
            <a:ext cx="11292480" cy="58500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3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CP1 obhajitelné, pokud do 30. 10. projde review + merge c07 a do 1. 11. generálka.</a:t>
            </a:r>
            <a:endParaRPr b="0" lang="en-US" sz="1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48200" y="5559480"/>
            <a:ext cx="2194200" cy="6944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4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DECISION / SUPPORT REQUIRED</a:t>
            </a:r>
            <a:endParaRPr b="0" lang="en-US" sz="11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2642760" y="5559480"/>
            <a:ext cx="9097920" cy="6944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Schválit dispozice F1/F2 a práh p95 ≤ 500 ms / tým / 30. 10. 2026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54a5"/>
          </a:solidFill>
          <a:ln w="12700">
            <a:solidFill>
              <a:srgbClr val="2454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48200" y="191880"/>
            <a:ext cx="83206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SWI  /  C08 PROJECT STATUS  /  HOSPODA DEVS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201400" y="191880"/>
            <a:ext cx="511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02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48200" y="511920"/>
            <a:ext cx="11018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SCOPE &amp; DELIVERY EVIDENCE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48200" y="987480"/>
            <a:ext cx="1122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trike="noStrike" u="none">
                <a:solidFill>
                  <a:srgbClr val="52657d"/>
                </a:solidFill>
                <a:effectLst/>
                <a:uFillTx/>
                <a:latin typeface="Arial"/>
                <a:ea typeface="Arial"/>
              </a:rPr>
              <a:t>Enter YES / PARTLY / NO (or justified N/A). A feature is VERIFIED only with relevant executed evidence.</a:t>
            </a:r>
            <a:endParaRPr b="0" lang="en-US" sz="1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48200" y="1389960"/>
            <a:ext cx="388584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PROJECT / TEAM:  Hospoda Devs (Petera, Kovařčík, Křižák)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334400" y="1389960"/>
            <a:ext cx="40413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REPORTING BASELINE:  c07-reporting-baseline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8375760" y="1389960"/>
            <a:ext cx="33645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 DATE / OWNER:  29. 10. 2026 / Michal Křižák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447840" y="6496560"/>
            <a:ext cx="11292840" cy="360"/>
          </a:xfrm>
          <a:prstGeom prst="line">
            <a:avLst/>
          </a:prstGeom>
          <a:ln w="8890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448200" y="6510600"/>
            <a:ext cx="11063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637184"/>
                </a:solidFill>
                <a:effectLst/>
                <a:uFillTx/>
                <a:latin typeface="Arial"/>
                <a:ea typeface="Arial"/>
              </a:rPr>
              <a:t>SWI C08  |  Reporting baseline: c07-reporting-baseline  |  Project: Hospoda Devs  |  Report date: 29. 10. 2026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448200" y="1993320"/>
            <a:ext cx="195660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Capability / baseline item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2404800" y="1993320"/>
            <a:ext cx="99648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Specified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3401640" y="1993320"/>
            <a:ext cx="99648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Designed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4398120" y="1993320"/>
            <a:ext cx="117000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Implemented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5568840" y="1993320"/>
            <a:ext cx="106020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Verified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6629400" y="1993320"/>
            <a:ext cx="511128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Evidence link / remaining gap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448200" y="2459880"/>
            <a:ext cx="195660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Create reservation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2404800" y="2459880"/>
            <a:ext cx="99648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3401640" y="2459880"/>
            <a:ext cx="99648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4398120" y="2459880"/>
            <a:ext cx="117000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5568840" y="2459880"/>
            <a:ext cx="106020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6629400" y="2459880"/>
            <a:ext cx="511128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REQ-01 OP-01; V-01.1–7 (F2 opraveno 29. 10.)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448200" y="2990160"/>
            <a:ext cx="195660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Check availability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3"/>
          <p:cNvSpPr/>
          <p:nvPr/>
        </p:nvSpPr>
        <p:spPr>
          <a:xfrm>
            <a:off x="2404800" y="2990160"/>
            <a:ext cx="99648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4"/>
          <p:cNvSpPr/>
          <p:nvPr/>
        </p:nvSpPr>
        <p:spPr>
          <a:xfrm>
            <a:off x="3401640" y="2990160"/>
            <a:ext cx="99648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5"/>
          <p:cNvSpPr/>
          <p:nvPr/>
        </p:nvSpPr>
        <p:spPr>
          <a:xfrm>
            <a:off x="4398120" y="2990160"/>
            <a:ext cx="117000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5568840" y="2990160"/>
            <a:ext cx="106020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7"/>
          <p:cNvSpPr/>
          <p:nvPr/>
        </p:nvSpPr>
        <p:spPr>
          <a:xfrm>
            <a:off x="6629400" y="2990160"/>
            <a:ext cx="511128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REQ-02 OP-02; AvailabilityService; V-02.1–7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8"/>
          <p:cNvSpPr/>
          <p:nvPr/>
        </p:nvSpPr>
        <p:spPr>
          <a:xfrm>
            <a:off x="448200" y="3520440"/>
            <a:ext cx="195660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Confirm / approval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9"/>
          <p:cNvSpPr/>
          <p:nvPr/>
        </p:nvSpPr>
        <p:spPr>
          <a:xfrm>
            <a:off x="2404800" y="3520440"/>
            <a:ext cx="99648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0"/>
          <p:cNvSpPr/>
          <p:nvPr/>
        </p:nvSpPr>
        <p:spPr>
          <a:xfrm>
            <a:off x="3401640" y="3520440"/>
            <a:ext cx="99648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1"/>
          <p:cNvSpPr/>
          <p:nvPr/>
        </p:nvSpPr>
        <p:spPr>
          <a:xfrm>
            <a:off x="4398120" y="3520440"/>
            <a:ext cx="117000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2"/>
          <p:cNvSpPr/>
          <p:nvPr/>
        </p:nvSpPr>
        <p:spPr>
          <a:xfrm>
            <a:off x="5568840" y="3520440"/>
            <a:ext cx="106020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3"/>
          <p:cNvSpPr/>
          <p:nvPr/>
        </p:nvSpPr>
        <p:spPr>
          <a:xfrm>
            <a:off x="6629400" y="3520440"/>
            <a:ext cx="511128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REQ-03/04/06; ADR-03, C05 DD; DD-T1–T11, V-04R.1–8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4"/>
          <p:cNvSpPr/>
          <p:nvPr/>
        </p:nvSpPr>
        <p:spPr>
          <a:xfrm>
            <a:off x="448200" y="4050720"/>
            <a:ext cx="195660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Cancel reservation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5"/>
          <p:cNvSpPr/>
          <p:nvPr/>
        </p:nvSpPr>
        <p:spPr>
          <a:xfrm>
            <a:off x="2404800" y="4050720"/>
            <a:ext cx="99648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6"/>
          <p:cNvSpPr/>
          <p:nvPr/>
        </p:nvSpPr>
        <p:spPr>
          <a:xfrm>
            <a:off x="3401640" y="4050720"/>
            <a:ext cx="99648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PARTLY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7"/>
          <p:cNvSpPr/>
          <p:nvPr/>
        </p:nvSpPr>
        <p:spPr>
          <a:xfrm>
            <a:off x="4398120" y="4050720"/>
            <a:ext cx="117000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8"/>
          <p:cNvSpPr/>
          <p:nvPr/>
        </p:nvSpPr>
        <p:spPr>
          <a:xfrm>
            <a:off x="5568840" y="4050720"/>
            <a:ext cx="106020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9"/>
          <p:cNvSpPr/>
          <p:nvPr/>
        </p:nvSpPr>
        <p:spPr>
          <a:xfrm>
            <a:off x="6629400" y="4050720"/>
            <a:ext cx="511128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REQ-05 OP-04; V-04.3, V-04R.3/.5; gap: mimo C05 DD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0"/>
          <p:cNvSpPr/>
          <p:nvPr/>
        </p:nvSpPr>
        <p:spPr>
          <a:xfrm>
            <a:off x="448200" y="4581000"/>
            <a:ext cx="195660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Business rule / invariant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1"/>
          <p:cNvSpPr/>
          <p:nvPr/>
        </p:nvSpPr>
        <p:spPr>
          <a:xfrm>
            <a:off x="2404800" y="4581000"/>
            <a:ext cx="99648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2"/>
          <p:cNvSpPr/>
          <p:nvPr/>
        </p:nvSpPr>
        <p:spPr>
          <a:xfrm>
            <a:off x="3401640" y="4581000"/>
            <a:ext cx="99648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3"/>
          <p:cNvSpPr/>
          <p:nvPr/>
        </p:nvSpPr>
        <p:spPr>
          <a:xfrm>
            <a:off x="4398120" y="4581000"/>
            <a:ext cx="117000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4"/>
          <p:cNvSpPr/>
          <p:nvPr/>
        </p:nvSpPr>
        <p:spPr>
          <a:xfrm>
            <a:off x="5568840" y="4581000"/>
            <a:ext cx="106020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5"/>
          <p:cNvSpPr/>
          <p:nvPr/>
        </p:nvSpPr>
        <p:spPr>
          <a:xfrm>
            <a:off x="6629400" y="4581000"/>
            <a:ext cx="5111280" cy="5299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BR-02; ADR-03; lock-mechanism; gap: ruční SQL (R-02)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6"/>
          <p:cNvSpPr/>
          <p:nvPr/>
        </p:nvSpPr>
        <p:spPr>
          <a:xfrm>
            <a:off x="448200" y="5111640"/>
            <a:ext cx="195660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Quality scenario (C04)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7"/>
          <p:cNvSpPr/>
          <p:nvPr/>
        </p:nvSpPr>
        <p:spPr>
          <a:xfrm>
            <a:off x="2404800" y="5111640"/>
            <a:ext cx="99648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8"/>
          <p:cNvSpPr/>
          <p:nvPr/>
        </p:nvSpPr>
        <p:spPr>
          <a:xfrm>
            <a:off x="3401640" y="5111640"/>
            <a:ext cx="99648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9"/>
          <p:cNvSpPr/>
          <p:nvPr/>
        </p:nvSpPr>
        <p:spPr>
          <a:xfrm>
            <a:off x="4398120" y="5111640"/>
            <a:ext cx="117000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YES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0"/>
          <p:cNvSpPr/>
          <p:nvPr/>
        </p:nvSpPr>
        <p:spPr>
          <a:xfrm>
            <a:off x="5568840" y="5111640"/>
            <a:ext cx="106020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PARTLY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1"/>
          <p:cNvSpPr/>
          <p:nvPr/>
        </p:nvSpPr>
        <p:spPr>
          <a:xfrm>
            <a:off x="6629400" y="5111640"/>
            <a:ext cx="5111280" cy="52992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Q 10×: p95 hot 145–239 ms ≤ 500; jen lokálně, 1 proces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2"/>
          <p:cNvSpPr/>
          <p:nvPr/>
        </p:nvSpPr>
        <p:spPr>
          <a:xfrm>
            <a:off x="448200" y="5788080"/>
            <a:ext cx="2194200" cy="50256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4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IMPORTANT EVIDENCE GAP</a:t>
            </a:r>
            <a:endParaRPr b="0" lang="en-US" sz="11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3"/>
          <p:cNvSpPr/>
          <p:nvPr/>
        </p:nvSpPr>
        <p:spPr>
          <a:xfrm>
            <a:off x="2642760" y="5788080"/>
            <a:ext cx="9097920" cy="5025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Kvalita 10× je ověřena jen lokálně v jednom procesu (není SLA); běh na prezentačním stroji zatím neověřen (R-03).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54a5"/>
          </a:solidFill>
          <a:ln w="12700">
            <a:solidFill>
              <a:srgbClr val="2454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448200" y="191880"/>
            <a:ext cx="83206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SWI  /  C08 PROJECT STATUS  /  HOSPODA DEVS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11201400" y="191880"/>
            <a:ext cx="511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03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448200" y="511920"/>
            <a:ext cx="11018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SCHEDULE, RESOURCES &amp; DEPENDENCIES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448200" y="987480"/>
            <a:ext cx="1122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trike="noStrike" u="none">
                <a:solidFill>
                  <a:srgbClr val="52657d"/>
                </a:solidFill>
                <a:effectLst/>
                <a:uFillTx/>
                <a:latin typeface="Arial"/>
                <a:ea typeface="Arial"/>
              </a:rPr>
              <a:t>Use real owners and credible plan-versus-forecast dates. Report missing plans as a gap; do not invent progress.</a:t>
            </a:r>
            <a:endParaRPr b="0" lang="en-US" sz="1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448200" y="1389960"/>
            <a:ext cx="388584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PROJECT / TEAM:  Hospoda Devs (Petera, Kovařčík, Křižák)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4334400" y="1389960"/>
            <a:ext cx="40413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REPORTING BASELINE:  c07-reporting-baseline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8375760" y="1389960"/>
            <a:ext cx="33645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 DATE / OWNER:  29. 10. 2026 / Michal Křižák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447840" y="6496560"/>
            <a:ext cx="11292840" cy="360"/>
          </a:xfrm>
          <a:prstGeom prst="line">
            <a:avLst/>
          </a:prstGeom>
          <a:ln w="8890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448200" y="6510600"/>
            <a:ext cx="11063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637184"/>
                </a:solidFill>
                <a:effectLst/>
                <a:uFillTx/>
                <a:latin typeface="Arial"/>
                <a:ea typeface="Arial"/>
              </a:rPr>
              <a:t>SWI C08  |  Reporting baseline: c07-reporting-baseline  |  Project: Hospoda Devs  |  Report date: 29. 10. 2026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448200" y="1993320"/>
            <a:ext cx="286164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Work package / milestone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3310200" y="1993320"/>
            <a:ext cx="122508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Owner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4535280" y="1993320"/>
            <a:ext cx="130716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Committed plan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5843160" y="1993320"/>
            <a:ext cx="166392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Actual / forecast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7507080" y="1993320"/>
            <a:ext cx="423324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Health and evidence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448200" y="2459880"/>
            <a:ext cx="286164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Uzavřít nálezy C06 (F1, F2)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3310200" y="2459880"/>
            <a:ext cx="122508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Michal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4535280" y="2459880"/>
            <a:ext cx="130716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2. 11. 2026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5843160" y="2459880"/>
            <a:ext cx="166392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29. 10. 2026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7507080" y="2459880"/>
            <a:ext cx="423324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GREEN: opraveno, 142/142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448200" y="3072240"/>
            <a:ext cx="286164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Lidské review C07 + merge PR c07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3310200" y="3072240"/>
            <a:ext cx="122508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Jarda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2"/>
          <p:cNvSpPr/>
          <p:nvPr/>
        </p:nvSpPr>
        <p:spPr>
          <a:xfrm>
            <a:off x="4535280" y="3072240"/>
            <a:ext cx="130716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30. 10. 2026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5843160" y="3072240"/>
            <a:ext cx="166392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ETA 30. 10.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7507080" y="3072240"/>
            <a:ext cx="423324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AMBER: review zatím nezapsáno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448200" y="3684960"/>
            <a:ext cx="286164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Čistý běh na prezentačním stroji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6"/>
          <p:cNvSpPr/>
          <p:nvPr/>
        </p:nvSpPr>
        <p:spPr>
          <a:xfrm>
            <a:off x="3310200" y="3684960"/>
            <a:ext cx="122508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Honza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7"/>
          <p:cNvSpPr/>
          <p:nvPr/>
        </p:nvSpPr>
        <p:spPr>
          <a:xfrm>
            <a:off x="4535280" y="3684960"/>
            <a:ext cx="130716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1. 11. 2026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8"/>
          <p:cNvSpPr/>
          <p:nvPr/>
        </p:nvSpPr>
        <p:spPr>
          <a:xfrm>
            <a:off x="5843160" y="3684960"/>
            <a:ext cx="166392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ETA 1. 11.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9"/>
          <p:cNvSpPr/>
          <p:nvPr/>
        </p:nvSpPr>
        <p:spPr>
          <a:xfrm>
            <a:off x="7507080" y="3684960"/>
            <a:ext cx="4233240" cy="6123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AMBER: 3 platformy OK, tento stroj ne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0"/>
          <p:cNvSpPr/>
          <p:nvPr/>
        </p:nvSpPr>
        <p:spPr>
          <a:xfrm>
            <a:off x="448200" y="4297680"/>
            <a:ext cx="286164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Plán CP2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1"/>
          <p:cNvSpPr/>
          <p:nvPr/>
        </p:nvSpPr>
        <p:spPr>
          <a:xfrm>
            <a:off x="3310200" y="4297680"/>
            <a:ext cx="122508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Jarda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2"/>
          <p:cNvSpPr/>
          <p:nvPr/>
        </p:nvSpPr>
        <p:spPr>
          <a:xfrm>
            <a:off x="4535280" y="4297680"/>
            <a:ext cx="130716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chybí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3"/>
          <p:cNvSpPr/>
          <p:nvPr/>
        </p:nvSpPr>
        <p:spPr>
          <a:xfrm>
            <a:off x="5843160" y="4297680"/>
            <a:ext cx="166392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plán do 5. 11.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4"/>
          <p:cNvSpPr/>
          <p:nvPr/>
        </p:nvSpPr>
        <p:spPr>
          <a:xfrm>
            <a:off x="7507080" y="4297680"/>
            <a:ext cx="4233240" cy="6123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AMBER: mezera v plánování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5"/>
          <p:cNvSpPr/>
          <p:nvPr/>
        </p:nvSpPr>
        <p:spPr>
          <a:xfrm>
            <a:off x="448200" y="510228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TEAM CAPACITY / SINGLE POINT OF FAILURE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6"/>
          <p:cNvSpPr/>
          <p:nvPr/>
        </p:nvSpPr>
        <p:spPr>
          <a:xfrm>
            <a:off x="448200" y="5394960"/>
            <a:ext cx="5545440" cy="78588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Jarda: 28/46 commitů, PostgreSQL setup. Záloha: generálka A, každý přednese cizí část (R-01).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7"/>
          <p:cNvSpPr/>
          <p:nvPr/>
        </p:nvSpPr>
        <p:spPr>
          <a:xfrm>
            <a:off x="6195240" y="510228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EXTERNAL / CRITICAL DEPENDENCY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8"/>
          <p:cNvSpPr/>
          <p:nvPr/>
        </p:nvSpPr>
        <p:spPr>
          <a:xfrm>
            <a:off x="6195240" y="5394960"/>
            <a:ext cx="5545440" cy="78588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embedded-postgres 16.14 beta + síť pro npm ci; záloha docker compose (Honza).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54a5"/>
          </a:solidFill>
          <a:ln w="12700">
            <a:solidFill>
              <a:srgbClr val="2454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448200" y="191880"/>
            <a:ext cx="83206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SWI  /  C08 PROJECT STATUS  /  HOSPODA DEVS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11201400" y="191880"/>
            <a:ext cx="511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04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448200" y="511920"/>
            <a:ext cx="11018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TOP RISKS, TREATMENT &amp; RESIDUAL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448200" y="987480"/>
            <a:ext cx="1122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trike="noStrike" u="none">
                <a:solidFill>
                  <a:srgbClr val="52657d"/>
                </a:solidFill>
                <a:effectLst/>
                <a:uFillTx/>
                <a:latin typeface="Arial"/>
                <a:ea typeface="Arial"/>
              </a:rPr>
              <a:t>Use up to three risks from section B. A planned control does not lower the ACTUAL residual risk.</a:t>
            </a:r>
            <a:endParaRPr b="0" lang="en-US" sz="1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448200" y="1389960"/>
            <a:ext cx="388584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PROJECT / TEAM:  Hospoda Devs (Petera, Kovařčík, Křižák)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4334400" y="1389960"/>
            <a:ext cx="40413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REPORTING BASELINE:  c07-reporting-baseline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8375760" y="1389960"/>
            <a:ext cx="33645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 DATE / OWNER:  29. 10. 2026 / Michal Křižák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447840" y="6496560"/>
            <a:ext cx="11292840" cy="360"/>
          </a:xfrm>
          <a:prstGeom prst="line">
            <a:avLst/>
          </a:prstGeom>
          <a:ln w="8890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448200" y="6510600"/>
            <a:ext cx="11063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637184"/>
                </a:solidFill>
                <a:effectLst/>
                <a:uFillTx/>
                <a:latin typeface="Arial"/>
                <a:ea typeface="Arial"/>
              </a:rPr>
              <a:t>SWI C08  |  Reporting baseline: c07-reporting-baseline  |  Project: Hospoda Devs  |  Report date: 29. 10. 2026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448200" y="1993320"/>
            <a:ext cx="222156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Risk / source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2670120" y="1993320"/>
            <a:ext cx="130716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Initial L/I + priority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3977640" y="1993320"/>
            <a:ext cx="127080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Response strategy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5248800" y="1993320"/>
            <a:ext cx="222156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Treatment, owner &amp; evidence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7470720" y="1993320"/>
            <a:ext cx="248688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Expected / actual residual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9957960" y="1993320"/>
            <a:ext cx="178272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Trigger / acceptance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448200" y="2459880"/>
            <a:ext cx="222156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R-01 People: znalosti u 1 člena → nikdo jiný neobhájí → ztráta bodů CP1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2670120" y="2459880"/>
            <a:ext cx="130716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L2 / I3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HIGH (6)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3977640" y="2459880"/>
            <a:ext cx="127080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MITIGATE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/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/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/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5248800" y="2459880"/>
            <a:ext cx="222156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Generálka, cizí části / Michal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1. 11.; neprovedeno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7470720" y="2459880"/>
            <a:ext cx="248688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Expected: L1/I3 MEDIUM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Actual: NOT VERIFIED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9957960" y="2459880"/>
            <a:ext cx="178272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Otázka bez odpovědi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tým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2"/>
          <p:cNvSpPr/>
          <p:nvPr/>
        </p:nvSpPr>
        <p:spPr>
          <a:xfrm>
            <a:off x="448200" y="3374280"/>
            <a:ext cx="2221560" cy="91404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R-02 Technical: zápis mimo Lifecycle (import, SQL) → 2 CONFIRMED → porušení BR-02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3"/>
          <p:cNvSpPr/>
          <p:nvPr/>
        </p:nvSpPr>
        <p:spPr>
          <a:xfrm>
            <a:off x="2670120" y="3374280"/>
            <a:ext cx="1307160" cy="91404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L1 / I3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MEDIUM (3)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4"/>
          <p:cNvSpPr/>
          <p:nvPr/>
        </p:nvSpPr>
        <p:spPr>
          <a:xfrm>
            <a:off x="3977640" y="3374280"/>
            <a:ext cx="1270800" cy="91404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MITIGATE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/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/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/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5248800" y="3374280"/>
            <a:ext cx="2221560" cy="91404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Import kontroluje BR-02 / Jarda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29. 10.; ověřeno testem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6"/>
          <p:cNvSpPr/>
          <p:nvPr/>
        </p:nvSpPr>
        <p:spPr>
          <a:xfrm>
            <a:off x="7470720" y="3374280"/>
            <a:ext cx="2486880" cy="91404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Expected: L1/I3 MEDIUM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Actual: L1/I3 MEDIUM (SQL zůstává)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7"/>
          <p:cNvSpPr/>
          <p:nvPr/>
        </p:nvSpPr>
        <p:spPr>
          <a:xfrm>
            <a:off x="9957960" y="3374280"/>
            <a:ext cx="1782720" cy="91404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Nový zápis mimo LC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Jarda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8"/>
          <p:cNvSpPr/>
          <p:nvPr/>
        </p:nvSpPr>
        <p:spPr>
          <a:xfrm>
            <a:off x="448200" y="4288680"/>
            <a:ext cx="222156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R-03 Release: npm ci / embedded PG selže na prezentačním PC → ukázka padne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9"/>
          <p:cNvSpPr/>
          <p:nvPr/>
        </p:nvSpPr>
        <p:spPr>
          <a:xfrm>
            <a:off x="2670120" y="4288680"/>
            <a:ext cx="130716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L2 / I2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MEDIUM (4)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0"/>
          <p:cNvSpPr/>
          <p:nvPr/>
        </p:nvSpPr>
        <p:spPr>
          <a:xfrm>
            <a:off x="3977640" y="4288680"/>
            <a:ext cx="127080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MITIGATE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/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/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/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5248800" y="4288680"/>
            <a:ext cx="222156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Běh den předem + JSON záloha / Honza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1. 11.; neprovedeno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2"/>
          <p:cNvSpPr/>
          <p:nvPr/>
        </p:nvSpPr>
        <p:spPr>
          <a:xfrm>
            <a:off x="7470720" y="4288680"/>
            <a:ext cx="248688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Expected: L1/I2 LOW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Actual: NOT VERIFIED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3"/>
          <p:cNvSpPr/>
          <p:nvPr/>
        </p:nvSpPr>
        <p:spPr>
          <a:xfrm>
            <a:off x="9957960" y="4288680"/>
            <a:ext cx="1782720" cy="9140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npm ci / start selže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Honza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4"/>
          <p:cNvSpPr/>
          <p:nvPr/>
        </p:nvSpPr>
        <p:spPr>
          <a:xfrm>
            <a:off x="448200" y="5330880"/>
            <a:ext cx="2194200" cy="5666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4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OPEN ISSUES (NOT RISKS)</a:t>
            </a:r>
            <a:endParaRPr b="0" lang="en-US" sz="11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5"/>
          <p:cNvSpPr/>
          <p:nvPr/>
        </p:nvSpPr>
        <p:spPr>
          <a:xfrm>
            <a:off x="2642760" y="5330880"/>
            <a:ext cx="9097920" cy="56664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I-01: npm test přepisuje sledované c03-*.json → riziko commitu změněné evidence; Jarda; oddělit výstupy do CP2. I-02: bod 10 C02 čeká na vyučujícího.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6"/>
          <p:cNvSpPr/>
          <p:nvPr/>
        </p:nvSpPr>
        <p:spPr>
          <a:xfrm>
            <a:off x="448200" y="6026040"/>
            <a:ext cx="11292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2657d"/>
                </a:solidFill>
                <a:effectLst/>
                <a:uFillTx/>
                <a:latin typeface="Arial"/>
                <a:ea typeface="Arial"/>
              </a:rPr>
              <a:t>Risk ranking: L x I (1-2 LOW; 3-4 MEDIUM; 6-9 HIGH). Actual residual = NOT VERIFIED until treatment effectiveness is evidenced.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54a5"/>
          </a:solidFill>
          <a:ln w="12700">
            <a:solidFill>
              <a:srgbClr val="2454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48200" y="191880"/>
            <a:ext cx="83206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SWI  /  C08 PROJECT STATUS  /  HOSPODA DEVS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11201400" y="191880"/>
            <a:ext cx="511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05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48200" y="511920"/>
            <a:ext cx="11018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NEXT ACTION PLAN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448200" y="987480"/>
            <a:ext cx="1122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trike="noStrike" u="none">
                <a:solidFill>
                  <a:srgbClr val="52657d"/>
                </a:solidFill>
                <a:effectLst/>
                <a:uFillTx/>
                <a:latin typeface="Arial"/>
                <a:ea typeface="Arial"/>
              </a:rPr>
              <a:t>Prioritise four actions. Each must have one owner, a date and an observable Definition of Done.</a:t>
            </a:r>
            <a:endParaRPr b="0" lang="en-US" sz="1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448200" y="1389960"/>
            <a:ext cx="388584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PROJECT / TEAM:  Hospoda Devs (Petera, Kovařčík, Křižák)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4334400" y="1389960"/>
            <a:ext cx="40413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REPORTING BASELINE:  c07-reporting-baseline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8375760" y="1389960"/>
            <a:ext cx="33645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 DATE / OWNER:  29. 10. 2026 / Michal Křižák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447840" y="6496560"/>
            <a:ext cx="11292840" cy="360"/>
          </a:xfrm>
          <a:prstGeom prst="line">
            <a:avLst/>
          </a:prstGeom>
          <a:ln w="8890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448200" y="6510600"/>
            <a:ext cx="11063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637184"/>
                </a:solidFill>
                <a:effectLst/>
                <a:uFillTx/>
                <a:latin typeface="Arial"/>
                <a:ea typeface="Arial"/>
              </a:rPr>
              <a:t>SWI C08  |  Reporting baseline: c07-reporting-baseline  |  Project: Hospoda Devs  |  Report date: 29. 10. 2026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448200" y="1993320"/>
            <a:ext cx="279756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Priority / action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3246120" y="1993320"/>
            <a:ext cx="128880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Owner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4535280" y="1993320"/>
            <a:ext cx="115164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Due date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5687640" y="1993320"/>
            <a:ext cx="408708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Definition of Done / evidence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9775080" y="1993320"/>
            <a:ext cx="1965600" cy="46584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Finding / risk link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448200" y="2459880"/>
            <a:ext cx="279756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P1 Review C07 + merge PR c07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3246120" y="2459880"/>
            <a:ext cx="128880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Jarda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7"/>
          <p:cNvSpPr/>
          <p:nvPr/>
        </p:nvSpPr>
        <p:spPr>
          <a:xfrm>
            <a:off x="4535280" y="2459880"/>
            <a:ext cx="115164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30. 10. 2026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5687640" y="2459880"/>
            <a:ext cx="408708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Review zapsáno; tag c07-reporting-baseline na main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9775080" y="2459880"/>
            <a:ext cx="196560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F1, F2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448200" y="3191400"/>
            <a:ext cx="279756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P2 Generálka obhajoby 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1"/>
          <p:cNvSpPr/>
          <p:nvPr/>
        </p:nvSpPr>
        <p:spPr>
          <a:xfrm>
            <a:off x="3246120" y="3191400"/>
            <a:ext cx="128880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Michal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2"/>
          <p:cNvSpPr/>
          <p:nvPr/>
        </p:nvSpPr>
        <p:spPr>
          <a:xfrm>
            <a:off x="4535280" y="3191400"/>
            <a:ext cx="115164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1. 11. 2026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5687640" y="3191400"/>
            <a:ext cx="408708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Každý zodpoví otázky k cizí části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4"/>
          <p:cNvSpPr/>
          <p:nvPr/>
        </p:nvSpPr>
        <p:spPr>
          <a:xfrm>
            <a:off x="9775080" y="3191400"/>
            <a:ext cx="196560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R-01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5"/>
          <p:cNvSpPr/>
          <p:nvPr/>
        </p:nvSpPr>
        <p:spPr>
          <a:xfrm>
            <a:off x="448200" y="3922920"/>
            <a:ext cx="279756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P3 Čistý běh na prezentačním PC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6"/>
          <p:cNvSpPr/>
          <p:nvPr/>
        </p:nvSpPr>
        <p:spPr>
          <a:xfrm>
            <a:off x="3246120" y="3922920"/>
            <a:ext cx="128880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Honza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7"/>
          <p:cNvSpPr/>
          <p:nvPr/>
        </p:nvSpPr>
        <p:spPr>
          <a:xfrm>
            <a:off x="4535280" y="3922920"/>
            <a:ext cx="115164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1. 11. 2026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8"/>
          <p:cNvSpPr/>
          <p:nvPr/>
        </p:nvSpPr>
        <p:spPr>
          <a:xfrm>
            <a:off x="5687640" y="3922920"/>
            <a:ext cx="408708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npm ci + npm test 142/142, log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9"/>
          <p:cNvSpPr/>
          <p:nvPr/>
        </p:nvSpPr>
        <p:spPr>
          <a:xfrm>
            <a:off x="9775080" y="3922920"/>
            <a:ext cx="1965600" cy="7311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R-03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0"/>
          <p:cNvSpPr/>
          <p:nvPr/>
        </p:nvSpPr>
        <p:spPr>
          <a:xfrm>
            <a:off x="448200" y="4654440"/>
            <a:ext cx="279756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P4 Plán CP2 + oddělit výstupy testů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1"/>
          <p:cNvSpPr/>
          <p:nvPr/>
        </p:nvSpPr>
        <p:spPr>
          <a:xfrm>
            <a:off x="3246120" y="4654440"/>
            <a:ext cx="128880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Jarda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2"/>
          <p:cNvSpPr/>
          <p:nvPr/>
        </p:nvSpPr>
        <p:spPr>
          <a:xfrm>
            <a:off x="4535280" y="4654440"/>
            <a:ext cx="115164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5. 11. 2026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3"/>
          <p:cNvSpPr/>
          <p:nvPr/>
        </p:nvSpPr>
        <p:spPr>
          <a:xfrm>
            <a:off x="5687640" y="4654440"/>
            <a:ext cx="408708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Plán s vlastníky v repu; I-01 uzavřeno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4"/>
          <p:cNvSpPr/>
          <p:nvPr/>
        </p:nvSpPr>
        <p:spPr>
          <a:xfrm>
            <a:off x="9775080" y="4654440"/>
            <a:ext cx="1965600" cy="731160"/>
          </a:xfrm>
          <a:prstGeom prst="rect">
            <a:avLst/>
          </a:prstGeom>
          <a:solidFill>
            <a:srgbClr val="f2f6fc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R-04, I-01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5"/>
          <p:cNvSpPr/>
          <p:nvPr/>
        </p:nvSpPr>
        <p:spPr>
          <a:xfrm>
            <a:off x="448200" y="5568840"/>
            <a:ext cx="2194200" cy="6397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4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THE PLAN FAILS</a:t>
            </a:r>
            <a:endParaRPr b="0" lang="en-US" sz="11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6"/>
          <p:cNvSpPr/>
          <p:nvPr/>
        </p:nvSpPr>
        <p:spPr>
          <a:xfrm>
            <a:off x="2642760" y="5568840"/>
            <a:ext cx="9097920" cy="6397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Neprokáže-li generálka zástupnost do 1. 11.: obhajobu A přednese autor každé části a R-01 zůstává HIGH; rozhodne tým 1. 11.</a:t>
            </a:r>
            <a:endParaRPr b="0" lang="en-US" sz="12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0" y="0"/>
            <a:ext cx="12191760" cy="82080"/>
          </a:xfrm>
          <a:prstGeom prst="rect">
            <a:avLst/>
          </a:prstGeom>
          <a:solidFill>
            <a:srgbClr val="2454a5"/>
          </a:solidFill>
          <a:ln w="12700">
            <a:solidFill>
              <a:srgbClr val="2454a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448200" y="191880"/>
            <a:ext cx="83206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SWI  /  C08 PROJECT STATUS  /  HOSPODA DEVS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11201400" y="191880"/>
            <a:ext cx="5115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454a5"/>
                </a:solidFill>
                <a:effectLst/>
                <a:uFillTx/>
                <a:latin typeface="Arial"/>
                <a:ea typeface="Arial"/>
              </a:rPr>
              <a:t>06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448200" y="511920"/>
            <a:ext cx="11018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MANAGEMENT CONCLUSION &amp; DECISION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448200" y="987480"/>
            <a:ext cx="1122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trike="noStrike" u="none">
                <a:solidFill>
                  <a:srgbClr val="52657d"/>
                </a:solidFill>
                <a:effectLst/>
                <a:uFillTx/>
                <a:latin typeface="Arial"/>
                <a:ea typeface="Arial"/>
              </a:rPr>
              <a:t>The conclusion must agree with the reporting baseline, tested evidence, risk register and action plan.</a:t>
            </a:r>
            <a:endParaRPr b="0" lang="en-US" sz="1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448200" y="1389960"/>
            <a:ext cx="388584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PROJECT / TEAM:  Hospoda Devs (Petera, Kovařčík, Křižák)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4334400" y="1389960"/>
            <a:ext cx="40413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REPORTING BASELINE:  c07-reporting-baseline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8375760" y="1389960"/>
            <a:ext cx="3364560" cy="402120"/>
          </a:xfrm>
          <a:prstGeom prst="rect">
            <a:avLst/>
          </a:prstGeom>
          <a:solidFill>
            <a:srgbClr val="eaf1fb"/>
          </a:solidFill>
          <a:ln w="6350">
            <a:solidFill>
              <a:srgbClr val="eaf1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trike="noStrike" u="none">
                <a:solidFill>
                  <a:srgbClr val="122641"/>
                </a:solidFill>
                <a:effectLst/>
                <a:uFillTx/>
                <a:latin typeface="Arial"/>
                <a:ea typeface="Arial"/>
              </a:rPr>
              <a:t>REPORT DATE / OWNER:  29. 10. 2026 / Michal Křižák</a:t>
            </a:r>
            <a:endParaRPr b="0" lang="en-US" sz="1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8"/>
          <p:cNvSpPr/>
          <p:nvPr/>
        </p:nvSpPr>
        <p:spPr>
          <a:xfrm>
            <a:off x="447840" y="6496560"/>
            <a:ext cx="11292840" cy="360"/>
          </a:xfrm>
          <a:prstGeom prst="line">
            <a:avLst/>
          </a:prstGeom>
          <a:ln w="8890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448200" y="6510600"/>
            <a:ext cx="11063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637184"/>
                </a:solidFill>
                <a:effectLst/>
                <a:uFillTx/>
                <a:latin typeface="Arial"/>
                <a:ea typeface="Arial"/>
              </a:rPr>
              <a:t>SWI C08  |  Reporting baseline: c07-reporting-baseline  |  Project: Hospoda Devs  |  Report date: 29. 10. 2026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448200" y="199332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DEMONSTRABLY COMPLETE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1"/>
          <p:cNvSpPr/>
          <p:nvPr/>
        </p:nvSpPr>
        <p:spPr>
          <a:xfrm>
            <a:off x="448200" y="2286000"/>
            <a:ext cx="5545440" cy="9781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4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C01–C05 uzavřeno (tagy c03-architecture, c05-detailed-design); F1/F2 opraveny, 142/142 na PostgreSQL 16.14; BR-02 pod 10×: 0 porušení, p95 ≤ 239 ms.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6195240" y="199332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OPEN / NOT VERIFIED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6195240" y="2286000"/>
            <a:ext cx="5545440" cy="97812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4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Lidské review C07, merge c07, běh na prezentačním PC, plán CP2, I-01 (přepisování evidence).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448200" y="347472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TOP RISK / RESPONSE / ACTUAL RESIDUAL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5"/>
          <p:cNvSpPr/>
          <p:nvPr/>
        </p:nvSpPr>
        <p:spPr>
          <a:xfrm>
            <a:off x="448200" y="3767400"/>
            <a:ext cx="5545440" cy="99648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R-01; Michal; generálka cizích částí; actual NOT VERIFIED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6"/>
          <p:cNvSpPr/>
          <p:nvPr/>
        </p:nvSpPr>
        <p:spPr>
          <a:xfrm>
            <a:off x="6195240" y="3474720"/>
            <a:ext cx="5545440" cy="29232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REQUESTED DECISION / OWNER / DUE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6195240" y="3767400"/>
            <a:ext cx="5545440" cy="99648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9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Schválit dispozice F1/F2 a práh 500 ms / tým / 30. 10. 2026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448200" y="4992480"/>
            <a:ext cx="11292480" cy="310680"/>
          </a:xfrm>
          <a:prstGeom prst="rect">
            <a:avLst/>
          </a:prstGeom>
          <a:solidFill>
            <a:srgbClr val="2454a5"/>
          </a:solidFill>
          <a:ln w="8255">
            <a:solidFill>
              <a:srgbClr val="2454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6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OVERALL STATUS &amp; DELIVERY FORECAST</a:t>
            </a:r>
            <a:endParaRPr b="0" lang="en-US" sz="10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9"/>
          <p:cNvSpPr/>
          <p:nvPr/>
        </p:nvSpPr>
        <p:spPr>
          <a:xfrm>
            <a:off x="448200" y="5303520"/>
            <a:ext cx="11292480" cy="968760"/>
          </a:xfrm>
          <a:prstGeom prst="rect">
            <a:avLst/>
          </a:prstGeom>
          <a:solidFill>
            <a:srgbClr val="ffffff"/>
          </a:solidFill>
          <a:ln w="8255">
            <a:solidFill>
              <a:srgbClr val="c8d4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6354b"/>
                </a:solidFill>
                <a:effectLst/>
                <a:uFillTx/>
                <a:latin typeface="Arial"/>
                <a:ea typeface="Arial"/>
              </a:rPr>
              <a:t>AMBER  -  CP1 dosažitelné: kód a důkazy hotové (142/142, zátěž); zbývá review, merge a zástupnost týmu (R-01).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SWI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2026-10-27T07:20:43Z</dcterms:created>
  <dc:creator>SWI Course</dc:creator>
  <dc:description/>
  <dc:language>en-US</dc:language>
  <cp:lastModifiedBy>SWI Course</cp:lastModifiedBy>
  <dcterms:modified xsi:type="dcterms:W3CDTF">2026-10-27T07:20:43Z</dcterms:modified>
  <cp:revision>1</cp:revision>
  <dc:subject>Editable SWI Project Status Report</dc:subject>
  <dc:title>SWI C08 Project Status Report | Editable Student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</Properties>
</file>